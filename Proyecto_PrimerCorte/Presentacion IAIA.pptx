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541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">
            <a:off x="502920" y="502920"/>
            <a:ext cx="2788920" cy="502920"/>
          </a:xfrm>
          <a:prstGeom prst="rect">
            <a:avLst/>
          </a:prstGeom>
          <a:solidFill>
            <a:srgbClr val="1B8F7A">
              <a:alpha val="9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 rot="-180000">
            <a:off x="502920" y="5029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DE 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 rot="-72000">
            <a:off x="457200" y="141732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Sort</a:t>
            </a:r>
            <a:endParaRPr lang="en-US" sz="5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Puzzle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 rot="180000">
            <a:off x="8092440" y="105156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-420000">
            <a:off x="9102850" y="827016"/>
            <a:ext cx="1463040" cy="502920"/>
          </a:xfrm>
          <a:prstGeom prst="rect">
            <a:avLst/>
          </a:prstGeom>
          <a:solidFill>
            <a:srgbClr val="E3A63E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40000">
            <a:off x="8755007" y="2490537"/>
            <a:ext cx="566928" cy="233172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40000">
            <a:off x="8834377" y="4239327"/>
            <a:ext cx="408188" cy="536296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12" name="Shape 10"/>
          <p:cNvSpPr/>
          <p:nvPr/>
        </p:nvSpPr>
        <p:spPr>
          <a:xfrm rot="240000">
            <a:off x="8834377" y="3656397"/>
            <a:ext cx="408188" cy="536296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13" name="Shape 11"/>
          <p:cNvSpPr/>
          <p:nvPr/>
        </p:nvSpPr>
        <p:spPr>
          <a:xfrm rot="240000">
            <a:off x="8834377" y="3073467"/>
            <a:ext cx="408188" cy="536296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14" name="Shape 12"/>
          <p:cNvSpPr/>
          <p:nvPr/>
        </p:nvSpPr>
        <p:spPr>
          <a:xfrm rot="240000">
            <a:off x="8834377" y="2490537"/>
            <a:ext cx="408188" cy="536296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15" name="Shape 13"/>
          <p:cNvSpPr/>
          <p:nvPr/>
        </p:nvSpPr>
        <p:spPr>
          <a:xfrm rot="-120000">
            <a:off x="9486527" y="2673417"/>
            <a:ext cx="566928" cy="210312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120000">
            <a:off x="9565897" y="4250757"/>
            <a:ext cx="408188" cy="483718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17" name="Shape 15"/>
          <p:cNvSpPr/>
          <p:nvPr/>
        </p:nvSpPr>
        <p:spPr>
          <a:xfrm rot="-120000">
            <a:off x="9565897" y="3724977"/>
            <a:ext cx="408188" cy="483718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18" name="Shape 16"/>
          <p:cNvSpPr/>
          <p:nvPr/>
        </p:nvSpPr>
        <p:spPr>
          <a:xfrm rot="-120000">
            <a:off x="9565897" y="3199197"/>
            <a:ext cx="408188" cy="483718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19" name="Shape 17"/>
          <p:cNvSpPr/>
          <p:nvPr/>
        </p:nvSpPr>
        <p:spPr>
          <a:xfrm rot="360000">
            <a:off x="10218047" y="2581977"/>
            <a:ext cx="566928" cy="224028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360000">
            <a:off x="10297417" y="4262187"/>
            <a:ext cx="408188" cy="515264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21" name="Shape 19"/>
          <p:cNvSpPr/>
          <p:nvPr/>
        </p:nvSpPr>
        <p:spPr>
          <a:xfrm rot="360000">
            <a:off x="10297417" y="3702117"/>
            <a:ext cx="408188" cy="515264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23" name="Text 21"/>
          <p:cNvSpPr txBox="1"/>
          <p:nvPr/>
        </p:nvSpPr>
        <p:spPr>
          <a:xfrm rot="-36000">
            <a:off x="268143" y="6270583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A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Cesar Morales – Santiago Cordoba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 rot="-480000">
            <a:off x="9131534" y="1511779"/>
            <a:ext cx="1417320" cy="960120"/>
          </a:xfrm>
          <a:prstGeom prst="ellipse">
            <a:avLst/>
          </a:prstGeom>
          <a:ln w="38100">
            <a:solidFill>
              <a:srgbClr val="D960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 rot="-480000">
            <a:off x="9299664" y="1586085"/>
            <a:ext cx="1069412" cy="79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6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416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2821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9631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6440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4845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3250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41655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18464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56869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95274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33679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15875">
            <a:solidFill>
              <a:srgbClr val="D98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 rot="-48000">
            <a:off x="1234440" y="411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problema, y por qué A*</a:t>
            </a:r>
            <a:endParaRPr lang="en-US" sz="2900" dirty="0"/>
          </a:p>
        </p:txBody>
      </p:sp>
      <p:sp>
        <p:nvSpPr>
          <p:cNvPr id="19" name="Shape 17"/>
          <p:cNvSpPr/>
          <p:nvPr/>
        </p:nvSpPr>
        <p:spPr>
          <a:xfrm>
            <a:off x="1280160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700784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21408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542032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62656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383280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03904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224528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065776" y="1024128"/>
            <a:ext cx="420624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72000">
            <a:off x="1234440" y="1417320"/>
            <a:ext cx="56235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 rot="180000">
            <a:off x="3291840" y="1188720"/>
            <a:ext cx="1371600" cy="457200"/>
          </a:xfrm>
          <a:prstGeom prst="rect">
            <a:avLst/>
          </a:prstGeom>
          <a:solidFill>
            <a:srgbClr val="D9603B">
              <a:alpha val="85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 rot="-72000">
            <a:off x="15544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46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RETO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 rot="-72000">
            <a:off x="150876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6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 rot="-72000">
            <a:off x="1828800" y="21488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Water Sort Game consiste en ordenar líquidos de colores en tubos, moviendo el contenido de uno a otro.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 rot="-72000">
            <a:off x="150876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6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 rot="-72000">
            <a:off x="1828800" y="32918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restricciones: colores, capacidad máxima de cada tubo y reglas de trasvase válidas.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 rot="-72000">
            <a:off x="1508760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6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 rot="-72000">
            <a:off x="1828800" y="44348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real es encontrar la secuencia óptima de movimientos, sin ciclos ni caminos redundantes.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 rot="-108000">
            <a:off x="7452360" y="1188720"/>
            <a:ext cx="3520440" cy="1828800"/>
          </a:xfrm>
          <a:prstGeom prst="rect">
            <a:avLst/>
          </a:prstGeom>
          <a:solidFill>
            <a:srgbClr val="1B8F7A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 rot="-300000">
            <a:off x="8732520" y="960120"/>
            <a:ext cx="1371600" cy="457200"/>
          </a:xfrm>
          <a:prstGeom prst="rect">
            <a:avLst/>
          </a:prstGeom>
          <a:solidFill>
            <a:srgbClr val="146857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-108000">
            <a:off x="7680960" y="1371600"/>
            <a:ext cx="1051560" cy="621792"/>
          </a:xfrm>
          <a:prstGeom prst="ellipse">
            <a:avLst/>
          </a:prstGeom>
          <a:ln w="2857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 rot="-108000">
            <a:off x="7680960" y="137160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 rot="-108000">
            <a:off x="8869680" y="132588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costo real + heurística → siempre óptimo, explorando mucho menos.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 rot="150000">
            <a:off x="7863840" y="3063240"/>
            <a:ext cx="3246120" cy="1463040"/>
          </a:xfrm>
          <a:prstGeom prst="rect">
            <a:avLst/>
          </a:prstGeom>
          <a:solidFill>
            <a:srgbClr val="E9E4FB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 rot="150000">
            <a:off x="8138160" y="333756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4E3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3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rápido, pero se pierde en caminos largos.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 rot="-210000">
            <a:off x="7635240" y="4572000"/>
            <a:ext cx="3246120" cy="1417320"/>
          </a:xfrm>
          <a:prstGeom prst="rect">
            <a:avLst/>
          </a:prstGeom>
          <a:solidFill>
            <a:srgbClr val="FFF3D6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 rot="-210000">
            <a:off x="7863840" y="482803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todo, sin guía.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 rot="60000">
            <a:off x="7772400" y="6263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g(n) + h(n)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416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2821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9631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6440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4845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3250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41655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18464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56869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95274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33679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15875">
            <a:solidFill>
              <a:srgbClr val="D98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 rot="-36000">
            <a:off x="1234440" y="411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resolvimos</a:t>
            </a:r>
            <a:endParaRPr lang="en-US" sz="2900" dirty="0"/>
          </a:p>
        </p:txBody>
      </p:sp>
      <p:sp>
        <p:nvSpPr>
          <p:cNvPr id="19" name="Shape 17"/>
          <p:cNvSpPr/>
          <p:nvPr/>
        </p:nvSpPr>
        <p:spPr>
          <a:xfrm>
            <a:off x="128016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64592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37744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10896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84048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572000" y="1024128"/>
            <a:ext cx="36576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90000">
            <a:off x="1234440" y="1417320"/>
            <a:ext cx="5029200" cy="2331720"/>
          </a:xfrm>
          <a:prstGeom prst="rect">
            <a:avLst/>
          </a:prstGeom>
          <a:solidFill>
            <a:srgbClr val="10263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 rot="240000">
            <a:off x="2926080" y="1188720"/>
            <a:ext cx="1371600" cy="457200"/>
          </a:xfrm>
          <a:prstGeom prst="rect">
            <a:avLst/>
          </a:prstGeom>
          <a:solidFill>
            <a:srgbClr val="E3A63E">
              <a:alpha val="85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 rot="-90000">
            <a:off x="1508760" y="1627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estado = tupla de tuplas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 rot="-90000">
            <a:off x="1508760" y="20116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(("Rojo","Azul","Rojo","Azul"),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("Azul","Rojo","Azul","Rojo"),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(), () 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 rot="48000">
            <a:off x="1371600" y="3977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origen no vacío   * destino no lleno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mismo color arriba, o destino vacío   * costo = 1.0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 rot="120000">
            <a:off x="7955280" y="1691640"/>
            <a:ext cx="868680" cy="288036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20000">
            <a:off x="8076895" y="3851910"/>
            <a:ext cx="625450" cy="662483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36" name="Shape 34"/>
          <p:cNvSpPr/>
          <p:nvPr/>
        </p:nvSpPr>
        <p:spPr>
          <a:xfrm rot="120000">
            <a:off x="8076895" y="3131820"/>
            <a:ext cx="625450" cy="662483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37" name="Shape 35"/>
          <p:cNvSpPr/>
          <p:nvPr/>
        </p:nvSpPr>
        <p:spPr>
          <a:xfrm rot="120000">
            <a:off x="8076895" y="2411730"/>
            <a:ext cx="625450" cy="662483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38" name="Shape 36"/>
          <p:cNvSpPr/>
          <p:nvPr/>
        </p:nvSpPr>
        <p:spPr>
          <a:xfrm rot="120000">
            <a:off x="8076895" y="1691640"/>
            <a:ext cx="625450" cy="662483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39" name="Shape 37"/>
          <p:cNvSpPr/>
          <p:nvPr/>
        </p:nvSpPr>
        <p:spPr>
          <a:xfrm>
            <a:off x="7635240" y="3127248"/>
            <a:ext cx="1600200" cy="0"/>
          </a:xfrm>
          <a:prstGeom prst="line">
            <a:avLst/>
          </a:prstGeom>
          <a:noFill/>
          <a:ln w="28575">
            <a:solidFill>
              <a:srgbClr val="E3A63E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635240" y="2404872"/>
            <a:ext cx="1600200" cy="0"/>
          </a:xfrm>
          <a:prstGeom prst="line">
            <a:avLst/>
          </a:prstGeom>
          <a:noFill/>
          <a:ln w="28575">
            <a:solidFill>
              <a:srgbClr val="E3A63E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rot="-180000">
            <a:off x="7818120" y="2386584"/>
            <a:ext cx="1234440" cy="722376"/>
          </a:xfrm>
          <a:prstGeom prst="ellipse">
            <a:avLst/>
          </a:prstGeom>
          <a:ln w="28575">
            <a:solidFill>
              <a:srgbClr val="E3A63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 rot="132000">
            <a:off x="9189720" y="214884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46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cambio de color aquí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46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 como +1 movimiento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46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 → h(n) = 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 rot="-30000">
            <a:off x="7635240" y="4892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# de “fronteras” de color en los tubos.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admisible: nunca sobreestima lo que falta.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416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2821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9631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6440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4845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3250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41655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18464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56869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95274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33679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15875">
            <a:solidFill>
              <a:srgbClr val="D98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 rot="-36000">
            <a:off x="123444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Nodo, Frontera y expand()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280160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764792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9424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734056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18688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703320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87952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672584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57216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641848" y="932688"/>
            <a:ext cx="484632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 rot="-60000">
            <a:off x="1097280" y="1234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6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ANATOMÍA DE UN NODO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rot="-108000">
            <a:off x="1417320" y="1874520"/>
            <a:ext cx="2880360" cy="2468880"/>
          </a:xfrm>
          <a:prstGeom prst="rect">
            <a:avLst/>
          </a:prstGeom>
          <a:solidFill>
            <a:srgbClr val="10263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 rot="180000">
            <a:off x="2331720" y="1664208"/>
            <a:ext cx="1188720" cy="411480"/>
          </a:xfrm>
          <a:prstGeom prst="rect">
            <a:avLst/>
          </a:prstGeom>
          <a:solidFill>
            <a:srgbClr val="D9603B">
              <a:alpha val="85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 rot="-108000">
            <a:off x="1645920" y="21214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 rot="-108000">
            <a:off x="1645920" y="23682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tubo1, tubo2, ... )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 rot="-108000">
            <a:off x="1645920" y="26700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 rot="-108000">
            <a:off x="1645920" y="2916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(origen, destino)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 rot="-108000">
            <a:off x="1645920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 rot="-108000">
            <a:off x="1645920" y="34655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g(n)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 rot="-108000">
            <a:off x="1645920" y="37673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 rot="-108000">
            <a:off x="1645920" y="40142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 ← ver arriba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 flipH="1" flipV="1">
            <a:off x="1371600" y="2148840"/>
            <a:ext cx="228600" cy="2011680"/>
          </a:xfrm>
          <a:prstGeom prst="line">
            <a:avLst/>
          </a:prstGeom>
          <a:noFill/>
          <a:ln w="25400">
            <a:solidFill>
              <a:srgbClr val="E3A63E"/>
            </a:solidFill>
            <a:prstDash val="dash"/>
            <a:tailEnd type="triangle"/>
          </a:ln>
        </p:spPr>
      </p:sp>
      <p:sp>
        <p:nvSpPr>
          <p:cNvPr id="43" name="Text 41"/>
          <p:cNvSpPr txBox="1"/>
          <p:nvPr/>
        </p:nvSpPr>
        <p:spPr>
          <a:xfrm rot="36000">
            <a:off x="1051560" y="45720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apunta a su padre: así se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reconstruye el camino completo al final.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 rot="-60000">
            <a:off x="4709160" y="1234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6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LA FRONTERA (heap)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 rot="-60000">
            <a:off x="470916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6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 entrega siempre el de menor f(n)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rot="-360000">
            <a:off x="4892040" y="3429000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 rot="-360000">
            <a:off x="4892040" y="34290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6.0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 rot="240000">
            <a:off x="4892040" y="2971800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 rot="240000">
            <a:off x="4892040" y="29718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5.0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 rot="-180000">
            <a:off x="4892040" y="2514600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 rot="-180000">
            <a:off x="4892040" y="25146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4.5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 rot="120000">
            <a:off x="4892040" y="2057400"/>
            <a:ext cx="2514600" cy="621792"/>
          </a:xfrm>
          <a:prstGeom prst="rect">
            <a:avLst/>
          </a:prstGeom>
          <a:solidFill>
            <a:srgbClr val="1B8F7A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 rot="120000">
            <a:off x="4892040" y="20574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3.0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 rot="-60000">
            <a:off x="4754880" y="1920240"/>
            <a:ext cx="2788920" cy="868680"/>
          </a:xfrm>
          <a:prstGeom prst="ellipse">
            <a:avLst/>
          </a:prstGeom>
          <a:ln w="31750">
            <a:solidFill>
              <a:srgbClr val="D9603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 rot="30000">
            <a:off x="4572000" y="4572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 es un heap: no importa el orden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entrada, siempre gana el más prometedor.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 rot="-60000">
            <a:off x="8092440" y="1234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6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expand(): generar hijos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 rot="-60000">
            <a:off x="8869680" y="1691640"/>
            <a:ext cx="1737360" cy="640080"/>
          </a:xfrm>
          <a:prstGeom prst="rect">
            <a:avLst/>
          </a:prstGeom>
          <a:solidFill>
            <a:srgbClr val="17324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 rot="-60000">
            <a:off x="8869680" y="1691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</a:t>
            </a:r>
            <a:endParaRPr lang="en-US" sz="11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 flipH="1">
            <a:off x="8526780" y="2331720"/>
            <a:ext cx="1211580" cy="731520"/>
          </a:xfrm>
          <a:prstGeom prst="line">
            <a:avLst/>
          </a:prstGeom>
          <a:noFill/>
          <a:ln w="2222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60" name="Shape 58"/>
          <p:cNvSpPr/>
          <p:nvPr/>
        </p:nvSpPr>
        <p:spPr>
          <a:xfrm rot="-180000">
            <a:off x="7955280" y="3108960"/>
            <a:ext cx="1143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 rot="-180000">
            <a:off x="7955280" y="31089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(0,2)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3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738360" y="2331720"/>
            <a:ext cx="22860" cy="731520"/>
          </a:xfrm>
          <a:prstGeom prst="line">
            <a:avLst/>
          </a:prstGeom>
          <a:noFill/>
          <a:ln w="2222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63" name="Shape 61"/>
          <p:cNvSpPr/>
          <p:nvPr/>
        </p:nvSpPr>
        <p:spPr>
          <a:xfrm rot="120000">
            <a:off x="9189720" y="3108960"/>
            <a:ext cx="1143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 rot="120000">
            <a:off x="9189720" y="31089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(1,3)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3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738360" y="2331720"/>
            <a:ext cx="1257300" cy="731520"/>
          </a:xfrm>
          <a:prstGeom prst="line">
            <a:avLst/>
          </a:prstGeom>
          <a:noFill/>
          <a:ln w="2222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66" name="Shape 64"/>
          <p:cNvSpPr/>
          <p:nvPr/>
        </p:nvSpPr>
        <p:spPr>
          <a:xfrm rot="-120000">
            <a:off x="10424160" y="3108960"/>
            <a:ext cx="1143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 rot="-120000">
            <a:off x="10424160" y="31089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(2,0)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3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 rot="-30000">
            <a:off x="7909560" y="42519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legal desde el estado actual crea</a:t>
            </a:r>
            <a:endParaRPr lang="en-US" sz="12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hijo con costo = costo del padre + 1.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 rot="-180000">
            <a:off x="3200400" y="5486400"/>
            <a:ext cx="1463040" cy="457200"/>
          </a:xfrm>
          <a:prstGeom prst="rect">
            <a:avLst/>
          </a:prstGeom>
          <a:solidFill>
            <a:srgbClr val="E3A63E">
              <a:alpha val="8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 rot="-36000">
            <a:off x="1234440" y="5623560"/>
            <a:ext cx="9692640" cy="868680"/>
          </a:xfrm>
          <a:prstGeom prst="rect">
            <a:avLst/>
          </a:prstGeom>
          <a:solidFill>
            <a:srgbClr val="FFF7E4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71" name="Text 69"/>
          <p:cNvSpPr txBox="1"/>
          <p:nvPr/>
        </p:nvSpPr>
        <p:spPr>
          <a:xfrm rot="-36000">
            <a:off x="1600200" y="562356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146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Nodo guarda memoria del camino  ·  la Frontera decide qué explorar primero  ·  expand() genera lo que sigue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416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2821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9631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6440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4845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3250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41655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18464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56869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95274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33679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15875">
            <a:solidFill>
              <a:srgbClr val="D98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 rot="-36000">
            <a:off x="12344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código: heurística y A*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28016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69164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51460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33756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16052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98348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96000">
            <a:off x="1234440" y="1234440"/>
            <a:ext cx="4663440" cy="2514600"/>
          </a:xfrm>
          <a:prstGeom prst="rect">
            <a:avLst/>
          </a:prstGeom>
          <a:solidFill>
            <a:srgbClr val="10263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 rot="240000">
            <a:off x="2651760" y="1005840"/>
            <a:ext cx="1371600" cy="457200"/>
          </a:xfrm>
          <a:prstGeom prst="rect">
            <a:avLst/>
          </a:prstGeom>
          <a:solidFill>
            <a:srgbClr val="146857">
              <a:alpha val="85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 rot="-96000">
            <a:off x="1463040" y="1417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problem.py — heuristic()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 rot="-96000">
            <a:off x="1463040" y="1783080"/>
            <a:ext cx="4251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costo_estimado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tubo in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 in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(tubo) - 1):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tubo[k] != tubo[k + 1]: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costo_estimado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1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MX" sz="120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costo_estimado</a:t>
            </a:r>
            <a:r>
              <a:rPr lang="es-MX" sz="120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rot="66000">
            <a:off x="5806440" y="1051560"/>
            <a:ext cx="5989320" cy="4892040"/>
          </a:xfrm>
          <a:prstGeom prst="rect">
            <a:avLst/>
          </a:prstGeom>
          <a:solidFill>
            <a:srgbClr val="10263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 rot="-300000">
            <a:off x="7955280" y="822960"/>
            <a:ext cx="1463040" cy="457200"/>
          </a:xfrm>
          <a:prstGeom prst="rect">
            <a:avLst/>
          </a:prstGeom>
          <a:solidFill>
            <a:srgbClr val="D9603B">
              <a:alpha val="85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 rot="66000">
            <a:off x="6080760" y="1234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busqueda.py — a_star_search()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 rot="66000">
            <a:off x="6080760" y="1600200"/>
            <a:ext cx="5532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a_star_search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(problem):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f_eval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nodo.costo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problem.heuristic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nodo.estado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 =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="FAIL")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=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problem.initial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padre=None,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accion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=None,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=0)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frontera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Frontera(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f_eval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frontera.add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(node)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reached = {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node.estado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node}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not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frontera.is_empty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nodo_actual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frontera.pop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problem.is_goal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nodo_actual.estado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nodo_actual</a:t>
            </a:r>
            <a:endParaRPr lang="en-US" sz="1150" dirty="0">
              <a:solidFill>
                <a:srgbClr val="E4F5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expansion = expand(problem,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nodo_actual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hijo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expansion: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hijo.estado</a:t>
            </a:r>
            <a:endParaRPr lang="en-US" sz="1150" dirty="0">
              <a:solidFill>
                <a:srgbClr val="E4F5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in reached) or (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hijo.costo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reached[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reached[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hijo</a:t>
            </a:r>
            <a:endParaRPr lang="en-US" sz="1150" dirty="0">
              <a:solidFill>
                <a:srgbClr val="E4F5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frontera.add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hijo</a:t>
            </a: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416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2821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1226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9631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8036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6440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4845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3250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41655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184648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568696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952744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336792"/>
            <a:ext cx="12188952" cy="0"/>
          </a:xfrm>
          <a:prstGeom prst="line">
            <a:avLst/>
          </a:prstGeom>
          <a:noFill/>
          <a:ln w="12700">
            <a:solidFill>
              <a:srgbClr val="CF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15875">
            <a:solidFill>
              <a:srgbClr val="D98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 rot="-36000">
            <a:off x="12344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algoritmo en acción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28016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69164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51460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33756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16052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983480" y="932688"/>
            <a:ext cx="411480" cy="54864"/>
          </a:xfrm>
          <a:prstGeom prst="line">
            <a:avLst/>
          </a:prstGeom>
          <a:noFill/>
          <a:ln w="25400">
            <a:solidFill>
              <a:srgbClr val="1B8F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2240280"/>
            <a:ext cx="347472" cy="45720"/>
          </a:xfrm>
          <a:prstGeom prst="line">
            <a:avLst/>
          </a:prstGeom>
          <a:noFill/>
          <a:ln w="2222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 rot="-150000">
            <a:off x="1234440" y="1325880"/>
            <a:ext cx="2331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 rot="-150000">
            <a:off x="13716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D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 rot="-150000">
            <a:off x="1463040" y="2103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Frontera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 rot="-150000">
            <a:off x="146304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prioridad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 por f(n)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08192" y="2514600"/>
            <a:ext cx="347472" cy="45720"/>
          </a:xfrm>
          <a:prstGeom prst="line">
            <a:avLst/>
          </a:prstGeom>
          <a:noFill/>
          <a:ln w="2222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 rot="108000">
            <a:off x="3822192" y="1600200"/>
            <a:ext cx="2331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 rot="108000">
            <a:off x="3959352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D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 rot="108000">
            <a:off x="4050792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Expandir</a:t>
            </a:r>
            <a:endParaRPr lang="en-US" sz="1650" dirty="0"/>
          </a:p>
        </p:txBody>
      </p:sp>
      <p:sp>
        <p:nvSpPr>
          <p:cNvPr id="38" name="Text 36"/>
          <p:cNvSpPr txBox="1"/>
          <p:nvPr/>
        </p:nvSpPr>
        <p:spPr>
          <a:xfrm rot="108000">
            <a:off x="4050792" y="27889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sucesores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válidos del nodo top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695944" y="2194560"/>
            <a:ext cx="347472" cy="45720"/>
          </a:xfrm>
          <a:prstGeom prst="line">
            <a:avLst/>
          </a:prstGeom>
          <a:noFill/>
          <a:ln w="2222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 rot="-90000">
            <a:off x="6409944" y="1280160"/>
            <a:ext cx="2331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 rot="-90000">
            <a:off x="654710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D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 rot="-90000">
            <a:off x="6638544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Actualizar</a:t>
            </a:r>
            <a:endParaRPr lang="en-US" sz="1650" dirty="0"/>
          </a:p>
        </p:txBody>
      </p:sp>
      <p:sp>
        <p:nvSpPr>
          <p:cNvPr id="43" name="Text 41"/>
          <p:cNvSpPr txBox="1"/>
          <p:nvPr/>
        </p:nvSpPr>
        <p:spPr>
          <a:xfrm rot="-90000">
            <a:off x="6638544" y="24688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si el nuevo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 menor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 rot="132000">
            <a:off x="8997696" y="1645920"/>
            <a:ext cx="2331720" cy="2148840"/>
          </a:xfrm>
          <a:prstGeom prst="rect">
            <a:avLst/>
          </a:prstGeom>
          <a:solidFill>
            <a:srgbClr val="1B8F7A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 rot="132000">
            <a:off x="9134856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sp>
        <p:nvSpPr>
          <p:cNvPr id="46" name="Text 44"/>
          <p:cNvSpPr txBox="1"/>
          <p:nvPr/>
        </p:nvSpPr>
        <p:spPr>
          <a:xfrm rot="132000">
            <a:off x="9226296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¡Meta!</a:t>
            </a:r>
            <a:endParaRPr lang="en-US" sz="1650" dirty="0"/>
          </a:p>
        </p:txBody>
      </p:sp>
      <p:sp>
        <p:nvSpPr>
          <p:cNvPr id="47" name="Text 45"/>
          <p:cNvSpPr txBox="1"/>
          <p:nvPr/>
        </p:nvSpPr>
        <p:spPr>
          <a:xfrm rot="132000">
            <a:off x="9226296" y="2834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el camino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acciones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 rot="-180000">
            <a:off x="3905268" y="4289221"/>
            <a:ext cx="502920" cy="169164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180000">
            <a:off x="3975677" y="5557951"/>
            <a:ext cx="362102" cy="389077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51" name="Shape 49"/>
          <p:cNvSpPr/>
          <p:nvPr/>
        </p:nvSpPr>
        <p:spPr>
          <a:xfrm rot="-180000">
            <a:off x="3975677" y="5135041"/>
            <a:ext cx="362102" cy="389077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52" name="Shape 50"/>
          <p:cNvSpPr/>
          <p:nvPr/>
        </p:nvSpPr>
        <p:spPr>
          <a:xfrm rot="-180000">
            <a:off x="3975677" y="4712131"/>
            <a:ext cx="362102" cy="389077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53" name="Shape 51"/>
          <p:cNvSpPr/>
          <p:nvPr/>
        </p:nvSpPr>
        <p:spPr>
          <a:xfrm rot="-180000">
            <a:off x="3975677" y="4289221"/>
            <a:ext cx="362102" cy="389077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54" name="Shape 52"/>
          <p:cNvSpPr/>
          <p:nvPr/>
        </p:nvSpPr>
        <p:spPr>
          <a:xfrm rot="120000">
            <a:off x="4499628" y="4380661"/>
            <a:ext cx="502920" cy="160020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20000">
            <a:off x="4570037" y="5580811"/>
            <a:ext cx="362102" cy="368046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56" name="Shape 54"/>
          <p:cNvSpPr/>
          <p:nvPr/>
        </p:nvSpPr>
        <p:spPr>
          <a:xfrm rot="120000">
            <a:off x="4570037" y="5180761"/>
            <a:ext cx="362102" cy="368046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57" name="Shape 55"/>
          <p:cNvSpPr/>
          <p:nvPr/>
        </p:nvSpPr>
        <p:spPr>
          <a:xfrm rot="120000">
            <a:off x="4570037" y="4780711"/>
            <a:ext cx="362102" cy="368046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58" name="Shape 56"/>
          <p:cNvSpPr/>
          <p:nvPr/>
        </p:nvSpPr>
        <p:spPr>
          <a:xfrm rot="120000">
            <a:off x="4570037" y="4380661"/>
            <a:ext cx="362102" cy="368046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59" name="Shape 57"/>
          <p:cNvSpPr/>
          <p:nvPr/>
        </p:nvSpPr>
        <p:spPr>
          <a:xfrm>
            <a:off x="5231148" y="4975021"/>
            <a:ext cx="685800" cy="0"/>
          </a:xfrm>
          <a:prstGeom prst="line">
            <a:avLst/>
          </a:prstGeom>
          <a:noFill/>
          <a:ln w="25400">
            <a:solidFill>
              <a:srgbClr val="1C2B3A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rot="-120000">
            <a:off x="6099828" y="4334941"/>
            <a:ext cx="502920" cy="164592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120000">
            <a:off x="6170237" y="5569381"/>
            <a:ext cx="362102" cy="378562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62" name="Shape 60"/>
          <p:cNvSpPr/>
          <p:nvPr/>
        </p:nvSpPr>
        <p:spPr>
          <a:xfrm rot="-120000">
            <a:off x="6170237" y="5157901"/>
            <a:ext cx="362102" cy="378562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63" name="Shape 61"/>
          <p:cNvSpPr/>
          <p:nvPr/>
        </p:nvSpPr>
        <p:spPr>
          <a:xfrm rot="-120000">
            <a:off x="6170237" y="4746421"/>
            <a:ext cx="362102" cy="378562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64" name="Shape 62"/>
          <p:cNvSpPr/>
          <p:nvPr/>
        </p:nvSpPr>
        <p:spPr>
          <a:xfrm rot="-120000">
            <a:off x="6170237" y="4334941"/>
            <a:ext cx="362102" cy="378562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65" name="Shape 63"/>
          <p:cNvSpPr/>
          <p:nvPr/>
        </p:nvSpPr>
        <p:spPr>
          <a:xfrm rot="180000">
            <a:off x="6694188" y="4426381"/>
            <a:ext cx="502920" cy="155448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180000">
            <a:off x="6764597" y="5592241"/>
            <a:ext cx="362102" cy="357530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67" name="Shape 65"/>
          <p:cNvSpPr/>
          <p:nvPr/>
        </p:nvSpPr>
        <p:spPr>
          <a:xfrm rot="180000">
            <a:off x="6764597" y="5203621"/>
            <a:ext cx="362102" cy="357530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68" name="Shape 66"/>
          <p:cNvSpPr/>
          <p:nvPr/>
        </p:nvSpPr>
        <p:spPr>
          <a:xfrm rot="180000">
            <a:off x="6764597" y="4815001"/>
            <a:ext cx="362102" cy="357530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69" name="Shape 67"/>
          <p:cNvSpPr/>
          <p:nvPr/>
        </p:nvSpPr>
        <p:spPr>
          <a:xfrm rot="180000">
            <a:off x="6764597" y="4426381"/>
            <a:ext cx="362102" cy="357530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72" name="Text 70"/>
          <p:cNvSpPr txBox="1"/>
          <p:nvPr/>
        </p:nvSpPr>
        <p:spPr>
          <a:xfrm rot="60000">
            <a:off x="4757997" y="6134359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 el nivel de prueba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tubos, 2 colores)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">
            <a:off x="502920" y="502920"/>
            <a:ext cx="2651760" cy="457200"/>
          </a:xfrm>
          <a:prstGeom prst="rect">
            <a:avLst/>
          </a:prstGeom>
          <a:solidFill>
            <a:srgbClr val="1B8F7A">
              <a:alpha val="9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 rot="-180000">
            <a:off x="502920" y="502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CONCLUSIONES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 rot="-48000">
            <a:off x="548640" y="11887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hicimos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 rot="-36000"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 rot="-36000">
            <a:off x="1097280" y="28803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garantiza la solución óptima combinando costo real y heurística.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 rot="30000"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 rot="30000">
            <a:off x="1097280" y="3749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heurística admisible (fronteras de color) recorta muchísimo la búsqueda.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 rot="-24000"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8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 rot="-24000">
            <a:off x="1097280" y="46177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modular (Nodo, Frontera, Problema) se reusa en otros juegos.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rot="-300000">
            <a:off x="9692640" y="4297680"/>
            <a:ext cx="548640" cy="178308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300000">
            <a:off x="9769450" y="5634990"/>
            <a:ext cx="395021" cy="410108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13" name="Shape 11"/>
          <p:cNvSpPr/>
          <p:nvPr/>
        </p:nvSpPr>
        <p:spPr>
          <a:xfrm rot="-300000">
            <a:off x="9769450" y="5189220"/>
            <a:ext cx="395021" cy="410108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14" name="Shape 12"/>
          <p:cNvSpPr/>
          <p:nvPr/>
        </p:nvSpPr>
        <p:spPr>
          <a:xfrm rot="240000">
            <a:off x="10469880" y="4572000"/>
            <a:ext cx="548640" cy="1508760"/>
          </a:xfrm>
          <a:prstGeom prst="roundRect">
            <a:avLst>
              <a:gd name="adj" fmla="val 50000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1C2B3A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40000">
            <a:off x="10546690" y="5703570"/>
            <a:ext cx="395021" cy="347015"/>
          </a:xfrm>
          <a:prstGeom prst="rect">
            <a:avLst/>
          </a:prstGeom>
          <a:solidFill>
            <a:srgbClr val="2F6FB0"/>
          </a:solidFill>
          <a:ln/>
        </p:spPr>
      </p:sp>
      <p:sp>
        <p:nvSpPr>
          <p:cNvPr id="16" name="Shape 14"/>
          <p:cNvSpPr/>
          <p:nvPr/>
        </p:nvSpPr>
        <p:spPr>
          <a:xfrm rot="240000">
            <a:off x="10546690" y="5326380"/>
            <a:ext cx="395021" cy="347015"/>
          </a:xfrm>
          <a:prstGeom prst="rect">
            <a:avLst/>
          </a:prstGeom>
          <a:solidFill>
            <a:srgbClr val="D9603B"/>
          </a:solidFill>
          <a:ln/>
        </p:spPr>
      </p:sp>
      <p:sp>
        <p:nvSpPr>
          <p:cNvPr id="17" name="Shape 15"/>
          <p:cNvSpPr/>
          <p:nvPr/>
        </p:nvSpPr>
        <p:spPr>
          <a:xfrm rot="-120000">
            <a:off x="502920" y="5349240"/>
            <a:ext cx="4663440" cy="1051560"/>
          </a:xfrm>
          <a:prstGeom prst="rect">
            <a:avLst/>
          </a:prstGeom>
          <a:solidFill>
            <a:srgbClr val="FFF7E4"/>
          </a:solidFill>
          <a:ln w="12700">
            <a:solidFill>
              <a:srgbClr val="E7DFCF"/>
            </a:solidFill>
            <a:prstDash val="solid"/>
          </a:ln>
          <a:effectLst>
            <a:outerShdw blurRad="76200" dist="38100" dir="5400000" algn="bl" rotWithShape="0">
              <a:srgbClr val="8A7B5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 rot="240000">
            <a:off x="1463040" y="5120640"/>
            <a:ext cx="1371600" cy="457200"/>
          </a:xfrm>
          <a:prstGeom prst="rect">
            <a:avLst/>
          </a:prstGeom>
          <a:solidFill>
            <a:srgbClr val="D9603B">
              <a:alpha val="85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 rot="-120000">
            <a:off x="777240" y="5440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46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Preguntas.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771</Words>
  <Application>Microsoft Office PowerPoint</Application>
  <PresentationFormat>Panorámica</PresentationFormat>
  <Paragraphs>128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Santiago Cordoba</cp:lastModifiedBy>
  <cp:revision>7</cp:revision>
  <dcterms:created xsi:type="dcterms:W3CDTF">2026-08-31T02:52:10Z</dcterms:created>
  <dcterms:modified xsi:type="dcterms:W3CDTF">2026-09-01T02:14:36Z</dcterms:modified>
</cp:coreProperties>
</file>